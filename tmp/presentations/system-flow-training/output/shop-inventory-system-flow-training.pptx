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 w="12700">
            <a:solidFill>
              <a:srgbClr val="F8FA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600000">
            <a:off x="8138160" y="-640080"/>
            <a:ext cx="5029200" cy="5029200"/>
          </a:xfrm>
          <a:prstGeom prst="arc">
            <a:avLst/>
          </a:prstGeom>
          <a:noFill/>
          <a:ln w="50800">
            <a:solidFill>
              <a:srgbClr val="3AA17E">
                <a:alpha val="8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960120"/>
            <a:ext cx="1828800" cy="0"/>
          </a:xfrm>
          <a:prstGeom prst="line">
            <a:avLst/>
          </a:prstGeom>
          <a:noFill/>
          <a:ln w="50800">
            <a:solidFill>
              <a:srgbClr val="D49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12471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9A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Project structure • Database • Usage flows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18288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Shop Inventory ERP</a:t>
            </a:r>
            <a:endParaRPr lang="en-US" sz="4300" dirty="0"/>
          </a:p>
        </p:txBody>
      </p:sp>
      <p:sp>
        <p:nvSpPr>
          <p:cNvPr id="8" name="Text 6"/>
          <p:cNvSpPr/>
          <p:nvPr/>
        </p:nvSpPr>
        <p:spPr>
          <a:xfrm>
            <a:off x="749808" y="2788920"/>
            <a:ext cx="7132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D7EFE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System Flow Training Deck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777240" y="3968496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7C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สื่อการสอนสำหรับเข้าใจโครงสร้างและ flow ทั้งระบบ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62636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7A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For developers, trainers, and operators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 w="12700">
            <a:solidFill>
              <a:srgbClr val="F8FA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เราจะอ่านระบบนี้จาก 5 ชั้น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2F3C4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เริ่มจากผู้ใช้ แล้วค่อยเจาะลงไปถึงฐานข้อมูลและ service กลาง</a:t>
            </a:r>
            <a:endParaRPr lang="en-US" sz="1180" dirty="0"/>
          </a:p>
        </p:txBody>
      </p:sp>
      <p:sp>
        <p:nvSpPr>
          <p:cNvPr id="5" name="Shape 3"/>
          <p:cNvSpPr/>
          <p:nvPr/>
        </p:nvSpPr>
        <p:spPr>
          <a:xfrm>
            <a:off x="512064" y="1143000"/>
            <a:ext cx="1051560" cy="0"/>
          </a:xfrm>
          <a:prstGeom prst="line">
            <a:avLst/>
          </a:prstGeom>
          <a:noFill/>
          <a:ln w="30480">
            <a:solidFill>
              <a:srgbClr val="256F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43891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F5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Mental Model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86384" y="1417320"/>
            <a:ext cx="438912" cy="438912"/>
          </a:xfrm>
          <a:prstGeom prst="ellipse">
            <a:avLst/>
          </a:prstGeom>
          <a:solidFill>
            <a:srgbClr val="256F5B"/>
          </a:solidFill>
          <a:ln w="12700">
            <a:solidFill>
              <a:srgbClr val="256F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508760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44752" y="13990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Usage Flow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17099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2F3C4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ผู้ใช้ทำอะไรในระบบจริง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1005840" y="1874520"/>
            <a:ext cx="0" cy="310896"/>
          </a:xfrm>
          <a:prstGeom prst="line">
            <a:avLst/>
          </a:prstGeom>
          <a:noFill/>
          <a:ln w="25400">
            <a:solidFill>
              <a:srgbClr val="D6DE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" y="2240280"/>
            <a:ext cx="438912" cy="438912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2331720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44752" y="22219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UI + Actions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25328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2F3C4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หน้าจอเรียก server action อย่างไร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1005840" y="2697480"/>
            <a:ext cx="0" cy="310896"/>
          </a:xfrm>
          <a:prstGeom prst="line">
            <a:avLst/>
          </a:prstGeom>
          <a:noFill/>
          <a:ln w="25400">
            <a:solidFill>
              <a:srgbClr val="D6DED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" y="3063240"/>
            <a:ext cx="438912" cy="438912"/>
          </a:xfrm>
          <a:prstGeom prst="ellipse">
            <a:avLst/>
          </a:prstGeom>
          <a:solidFill>
            <a:srgbClr val="256F5B"/>
          </a:solidFill>
          <a:ln w="12700">
            <a:solidFill>
              <a:srgbClr val="256F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3154680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44752" y="30449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Services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63040" y="33558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2F3C4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business logic และ transaction อยู่ที่ไหน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1005840" y="3520440"/>
            <a:ext cx="0" cy="310896"/>
          </a:xfrm>
          <a:prstGeom prst="line">
            <a:avLst/>
          </a:prstGeom>
          <a:noFill/>
          <a:ln w="25400">
            <a:solidFill>
              <a:srgbClr val="D6DED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6384" y="3886200"/>
            <a:ext cx="438912" cy="438912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" y="3977640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444752" y="38679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Database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63040" y="417880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2F3C4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โมเดลหลักเชื่อมกันอย่างไร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1005840" y="4343400"/>
            <a:ext cx="0" cy="310896"/>
          </a:xfrm>
          <a:prstGeom prst="line">
            <a:avLst/>
          </a:prstGeom>
          <a:noFill/>
          <a:ln w="25400">
            <a:solidFill>
              <a:srgbClr val="D6DED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6384" y="4709160"/>
            <a:ext cx="438912" cy="438912"/>
          </a:xfrm>
          <a:prstGeom prst="ellipse">
            <a:avLst/>
          </a:prstGeom>
          <a:solidFill>
            <a:srgbClr val="256F5B"/>
          </a:solidFill>
          <a:ln w="12700">
            <a:solidFill>
              <a:srgbClr val="256F5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" y="4800600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444752" y="46908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Core Controls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63040" y="50017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2F3C4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RBAC, audit, sequence, stock, accounting</a:t>
            </a:r>
            <a:endParaRPr lang="en-US" sz="1060" dirty="0"/>
          </a:p>
        </p:txBody>
      </p:sp>
      <p:sp>
        <p:nvSpPr>
          <p:cNvPr id="31" name="Text 29"/>
          <p:cNvSpPr/>
          <p:nvPr/>
        </p:nvSpPr>
        <p:spPr>
          <a:xfrm>
            <a:off x="6812280" y="1828800"/>
            <a:ext cx="429768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0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ใช้สไลด์นี้เป็นเส้นทางนำเรียน: จาก flow ที่ผู้ใช้เห็น ไปถึงโครงสร้างด้านในที่ developer ต้องเข้าใจ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839712" y="30632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4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Deck นี้แยกเนื้อหาเป็นภาพใหญ่หลายชั้น เพื่อให้คุยกันได้ทั้งมุม business process และมุม code/database.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11480" y="653796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Shop Inventory ERP • System Flow Training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52144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A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 w="12700">
            <a:solidFill>
              <a:srgbClr val="F8FA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ภาพรวม Architecture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2F3C4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Next.js monolith ที่แยก UI, action, service, DB และ core control ชัดเจน</a:t>
            </a:r>
            <a:endParaRPr lang="en-US" sz="1180" dirty="0"/>
          </a:p>
        </p:txBody>
      </p:sp>
      <p:sp>
        <p:nvSpPr>
          <p:cNvPr id="5" name="Shape 3"/>
          <p:cNvSpPr/>
          <p:nvPr/>
        </p:nvSpPr>
        <p:spPr>
          <a:xfrm>
            <a:off x="512064" y="1143000"/>
            <a:ext cx="1051560" cy="0"/>
          </a:xfrm>
          <a:prstGeom prst="line">
            <a:avLst/>
          </a:prstGeom>
          <a:noFill/>
          <a:ln w="30480">
            <a:solidFill>
              <a:srgbClr val="256F5B"/>
            </a:solidFill>
            <a:prstDash val="solid"/>
          </a:ln>
        </p:spPr>
      </p:sp>
      <p:pic>
        <p:nvPicPr>
          <p:cNvPr id="6" name="Image 0" descr="/Users/napat.a/Desktop/Live Coding/Shop-inventory/tmp/presentations/system-flow-training/scratch/assets/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" y="1325880"/>
            <a:ext cx="8275320" cy="45354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89720" y="1426464"/>
            <a:ext cx="0" cy="4343400"/>
          </a:xfrm>
          <a:prstGeom prst="line">
            <a:avLst/>
          </a:prstGeom>
          <a:noFill/>
          <a:ln w="17780">
            <a:solidFill>
              <a:srgbClr val="D6DE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464040" y="142646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F5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464040" y="1810512"/>
            <a:ext cx="205740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Service layer คือสมองของระบบ ส่วน Server Actions คือประตูรับข้อมูลจาก UI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473184" y="52303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A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Mermaid source: scratch/mermaid/architecture.mmd</a:t>
            </a:r>
            <a:endParaRPr lang="en-US" sz="680" dirty="0"/>
          </a:p>
        </p:txBody>
      </p:sp>
      <p:sp>
        <p:nvSpPr>
          <p:cNvPr id="11" name="Text 8"/>
          <p:cNvSpPr/>
          <p:nvPr/>
        </p:nvSpPr>
        <p:spPr>
          <a:xfrm>
            <a:off x="411480" y="653796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Shop Inventory ERP • System Flow Training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152144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A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 w="12700">
            <a:solidFill>
              <a:srgbClr val="F8FA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โครงสร้างโปรเจกต์ตามหน้าที่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2F3C4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ถ้าจะตาม feature ให้ไล่จาก route/page -&gt; action -&gt; schema -&gt; service -&gt; Prisma model</a:t>
            </a:r>
            <a:endParaRPr lang="en-US" sz="1180" dirty="0"/>
          </a:p>
        </p:txBody>
      </p:sp>
      <p:sp>
        <p:nvSpPr>
          <p:cNvPr id="5" name="Shape 3"/>
          <p:cNvSpPr/>
          <p:nvPr/>
        </p:nvSpPr>
        <p:spPr>
          <a:xfrm>
            <a:off x="512064" y="1143000"/>
            <a:ext cx="1051560" cy="0"/>
          </a:xfrm>
          <a:prstGeom prst="line">
            <a:avLst/>
          </a:prstGeom>
          <a:noFill/>
          <a:ln w="30480">
            <a:solidFill>
              <a:srgbClr val="256F5B"/>
            </a:solidFill>
            <a:prstDash val="solid"/>
          </a:ln>
        </p:spPr>
      </p:sp>
      <p:pic>
        <p:nvPicPr>
          <p:cNvPr id="6" name="Image 0" descr="/Users/napat.a/Desktop/Live Coding/Shop-inventory/tmp/presentations/system-flow-training/scratch/assets/project_stru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" y="1325880"/>
            <a:ext cx="8275320" cy="45354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89720" y="1426464"/>
            <a:ext cx="0" cy="4343400"/>
          </a:xfrm>
          <a:prstGeom prst="line">
            <a:avLst/>
          </a:prstGeom>
          <a:noFill/>
          <a:ln w="17780">
            <a:solidFill>
              <a:srgbClr val="D6DE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464040" y="142646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F5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464040" y="1810512"/>
            <a:ext cx="205740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โค้ดถูกจัดตาม responsibility มากกว่าจัดตามหน้าอย่างเดียว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473184" y="52303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A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Mermaid source: scratch/mermaid/project_structure.mmd</a:t>
            </a:r>
            <a:endParaRPr lang="en-US" sz="680" dirty="0"/>
          </a:p>
        </p:txBody>
      </p:sp>
      <p:sp>
        <p:nvSpPr>
          <p:cNvPr id="11" name="Text 8"/>
          <p:cNvSpPr/>
          <p:nvPr/>
        </p:nvSpPr>
        <p:spPr>
          <a:xfrm>
            <a:off x="411480" y="653796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Shop Inventory ERP • System Flow Training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152144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A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 w="12700">
            <a:solidFill>
              <a:srgbClr val="F8FA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Request Lifecycle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2F3C4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ตัวอย่างเส้นทางเมื่อผู้ใช้กดสร้างสินค้าใหม่</a:t>
            </a:r>
            <a:endParaRPr lang="en-US" sz="1180" dirty="0"/>
          </a:p>
        </p:txBody>
      </p:sp>
      <p:sp>
        <p:nvSpPr>
          <p:cNvPr id="5" name="Shape 3"/>
          <p:cNvSpPr/>
          <p:nvPr/>
        </p:nvSpPr>
        <p:spPr>
          <a:xfrm>
            <a:off x="512064" y="1143000"/>
            <a:ext cx="1051560" cy="0"/>
          </a:xfrm>
          <a:prstGeom prst="line">
            <a:avLst/>
          </a:prstGeom>
          <a:noFill/>
          <a:ln w="30480">
            <a:solidFill>
              <a:srgbClr val="256F5B"/>
            </a:solidFill>
            <a:prstDash val="solid"/>
          </a:ln>
        </p:spPr>
      </p:sp>
      <p:pic>
        <p:nvPicPr>
          <p:cNvPr id="6" name="Image 0" descr="/Users/napat.a/Desktop/Live Coding/Shop-inventory/tmp/presentations/system-flow-training/scratch/assets/request_lifecyc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" y="1325880"/>
            <a:ext cx="8275320" cy="45354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89720" y="1426464"/>
            <a:ext cx="0" cy="4343400"/>
          </a:xfrm>
          <a:prstGeom prst="line">
            <a:avLst/>
          </a:prstGeom>
          <a:noFill/>
          <a:ln w="17780">
            <a:solidFill>
              <a:srgbClr val="D6DE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464040" y="142646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F5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464040" y="1810512"/>
            <a:ext cx="205740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ทุก mutation ควรผ่าน auth, validation, service transaction, audit และ cache revalidation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473184" y="52303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A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Mermaid source: scratch/mermaid/request_lifecycle.mmd</a:t>
            </a:r>
            <a:endParaRPr lang="en-US" sz="680" dirty="0"/>
          </a:p>
        </p:txBody>
      </p:sp>
      <p:sp>
        <p:nvSpPr>
          <p:cNvPr id="11" name="Text 8"/>
          <p:cNvSpPr/>
          <p:nvPr/>
        </p:nvSpPr>
        <p:spPr>
          <a:xfrm>
            <a:off x="411480" y="653796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Shop Inventory ERP • System Flow Training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152144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A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 w="12700">
            <a:solidFill>
              <a:srgbClr val="F8FA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Auth และ RBAC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2F3C4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NextAuth สร้าง session, getSessionContext เติม shop/member/permission ก่อนเข้า service</a:t>
            </a:r>
            <a:endParaRPr lang="en-US" sz="1180" dirty="0"/>
          </a:p>
        </p:txBody>
      </p:sp>
      <p:sp>
        <p:nvSpPr>
          <p:cNvPr id="5" name="Shape 3"/>
          <p:cNvSpPr/>
          <p:nvPr/>
        </p:nvSpPr>
        <p:spPr>
          <a:xfrm>
            <a:off x="512064" y="1143000"/>
            <a:ext cx="1051560" cy="0"/>
          </a:xfrm>
          <a:prstGeom prst="line">
            <a:avLst/>
          </a:prstGeom>
          <a:noFill/>
          <a:ln w="30480">
            <a:solidFill>
              <a:srgbClr val="256F5B"/>
            </a:solidFill>
            <a:prstDash val="solid"/>
          </a:ln>
        </p:spPr>
      </p:sp>
      <p:pic>
        <p:nvPicPr>
          <p:cNvPr id="6" name="Image 0" descr="/Users/napat.a/Desktop/Live Coding/Shop-inventory/tmp/presentations/system-flow-training/scratch/assets/auth_rba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" y="1325880"/>
            <a:ext cx="8275320" cy="45354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89720" y="1426464"/>
            <a:ext cx="0" cy="4343400"/>
          </a:xfrm>
          <a:prstGeom prst="line">
            <a:avLst/>
          </a:prstGeom>
          <a:noFill/>
          <a:ln w="17780">
            <a:solidFill>
              <a:srgbClr val="D6DE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464040" y="142646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F5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464040" y="1810512"/>
            <a:ext cx="205740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Owner ข้าม permission ได้ แต่ Member ต้องผ่าน Role.permissions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473184" y="52303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A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Mermaid source: scratch/mermaid/auth_rbac.mmd</a:t>
            </a:r>
            <a:endParaRPr lang="en-US" sz="680" dirty="0"/>
          </a:p>
        </p:txBody>
      </p:sp>
      <p:sp>
        <p:nvSpPr>
          <p:cNvPr id="11" name="Text 8"/>
          <p:cNvSpPr/>
          <p:nvPr/>
        </p:nvSpPr>
        <p:spPr>
          <a:xfrm>
            <a:off x="411480" y="653796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Shop Inventory ERP • System Flow Training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152144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A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 w="12700">
            <a:solidFill>
              <a:srgbClr val="F8FA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Database Domain Map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2F3C4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Shop คือ tenant boundary; domain อื่น ๆ ผูกกับ shopId เพื่อกันข้อมูลข้ามร้าน</a:t>
            </a:r>
            <a:endParaRPr lang="en-US" sz="1180" dirty="0"/>
          </a:p>
        </p:txBody>
      </p:sp>
      <p:sp>
        <p:nvSpPr>
          <p:cNvPr id="5" name="Shape 3"/>
          <p:cNvSpPr/>
          <p:nvPr/>
        </p:nvSpPr>
        <p:spPr>
          <a:xfrm>
            <a:off x="512064" y="1143000"/>
            <a:ext cx="1051560" cy="0"/>
          </a:xfrm>
          <a:prstGeom prst="line">
            <a:avLst/>
          </a:prstGeom>
          <a:noFill/>
          <a:ln w="30480">
            <a:solidFill>
              <a:srgbClr val="256F5B"/>
            </a:solidFill>
            <a:prstDash val="solid"/>
          </a:ln>
        </p:spPr>
      </p:sp>
      <p:pic>
        <p:nvPicPr>
          <p:cNvPr id="6" name="Image 0" descr="/Users/napat.a/Desktop/Live Coding/Shop-inventory/tmp/presentations/system-flow-training/scratch/assets/db_domain_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" y="1325880"/>
            <a:ext cx="8275320" cy="45354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89720" y="1426464"/>
            <a:ext cx="0" cy="4343400"/>
          </a:xfrm>
          <a:prstGeom prst="line">
            <a:avLst/>
          </a:prstGeom>
          <a:noFill/>
          <a:ln w="17780">
            <a:solidFill>
              <a:srgbClr val="D6DE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464040" y="142646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F5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464040" y="1810512"/>
            <a:ext cx="205740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อ่าน DB เป็นกลุ่ม domain จะเข้าใจง่ายกว่าอ่านทีละ model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473184" y="52303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A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Mermaid source: scratch/mermaid/db_domain_map.mmd</a:t>
            </a:r>
            <a:endParaRPr lang="en-US" sz="680" dirty="0"/>
          </a:p>
        </p:txBody>
      </p:sp>
      <p:sp>
        <p:nvSpPr>
          <p:cNvPr id="11" name="Text 8"/>
          <p:cNvSpPr/>
          <p:nvPr/>
        </p:nvSpPr>
        <p:spPr>
          <a:xfrm>
            <a:off x="411480" y="653796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Shop Inventory ERP • System Flow Training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152144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A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 w="12700">
            <a:solidFill>
              <a:srgbClr val="F8FA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Multi-Tenant Data Boundary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2F3C4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ทุก service ต้องใช้ ctx.shopId เป็น filter หรือ guard ก่อนอ่าน/เขียนข้อมูลธุรกิจ</a:t>
            </a:r>
            <a:endParaRPr lang="en-US" sz="1180" dirty="0"/>
          </a:p>
        </p:txBody>
      </p:sp>
      <p:sp>
        <p:nvSpPr>
          <p:cNvPr id="5" name="Shape 3"/>
          <p:cNvSpPr/>
          <p:nvPr/>
        </p:nvSpPr>
        <p:spPr>
          <a:xfrm>
            <a:off x="512064" y="1143000"/>
            <a:ext cx="1051560" cy="0"/>
          </a:xfrm>
          <a:prstGeom prst="line">
            <a:avLst/>
          </a:prstGeom>
          <a:noFill/>
          <a:ln w="30480">
            <a:solidFill>
              <a:srgbClr val="256F5B"/>
            </a:solidFill>
            <a:prstDash val="solid"/>
          </a:ln>
        </p:spPr>
      </p:sp>
      <p:pic>
        <p:nvPicPr>
          <p:cNvPr id="6" name="Image 0" descr="/Users/napat.a/Desktop/Live Coding/Shop-inventory/tmp/presentations/system-flow-training/scratch/assets/tenant_bounda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" y="1325880"/>
            <a:ext cx="8275320" cy="45354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89720" y="1426464"/>
            <a:ext cx="0" cy="4343400"/>
          </a:xfrm>
          <a:prstGeom prst="line">
            <a:avLst/>
          </a:prstGeom>
          <a:noFill/>
          <a:ln w="17780">
            <a:solidFill>
              <a:srgbClr val="D6DE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464040" y="142646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F5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464040" y="1810512"/>
            <a:ext cx="205740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shopId คือเส้นแบ่งข้อมูลที่สำคัญที่สุดของระบบ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473184" y="52303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A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Mermaid source: scratch/mermaid/tenant_boundary.mmd</a:t>
            </a:r>
            <a:endParaRPr lang="en-US" sz="680" dirty="0"/>
          </a:p>
        </p:txBody>
      </p:sp>
      <p:sp>
        <p:nvSpPr>
          <p:cNvPr id="11" name="Text 8"/>
          <p:cNvSpPr/>
          <p:nvPr/>
        </p:nvSpPr>
        <p:spPr>
          <a:xfrm>
            <a:off x="411480" y="653796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Shop Inventory ERP • System Flow Training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152144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A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 w="12700">
            <a:solidFill>
              <a:srgbClr val="F8FA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Inventory: ความจริงของสต็อก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2F3C4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WarehouseStock เป็น source of truth; Product.stock เป็น read cache สำหรับ list/filter/sort</a:t>
            </a:r>
            <a:endParaRPr lang="en-US" sz="1180" dirty="0"/>
          </a:p>
        </p:txBody>
      </p:sp>
      <p:sp>
        <p:nvSpPr>
          <p:cNvPr id="5" name="Shape 3"/>
          <p:cNvSpPr/>
          <p:nvPr/>
        </p:nvSpPr>
        <p:spPr>
          <a:xfrm>
            <a:off x="512064" y="1143000"/>
            <a:ext cx="1051560" cy="0"/>
          </a:xfrm>
          <a:prstGeom prst="line">
            <a:avLst/>
          </a:prstGeom>
          <a:noFill/>
          <a:ln w="30480">
            <a:solidFill>
              <a:srgbClr val="256F5B"/>
            </a:solidFill>
            <a:prstDash val="solid"/>
          </a:ln>
        </p:spPr>
      </p:sp>
      <p:pic>
        <p:nvPicPr>
          <p:cNvPr id="6" name="Image 0" descr="/Users/napat.a/Desktop/Live Coding/Shop-inventory/tmp/presentations/system-flow-training/scratch/assets/inventory_fl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" y="1325880"/>
            <a:ext cx="8275320" cy="45354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89720" y="1426464"/>
            <a:ext cx="0" cy="4343400"/>
          </a:xfrm>
          <a:prstGeom prst="line">
            <a:avLst/>
          </a:prstGeom>
          <a:noFill/>
          <a:ln w="17780">
            <a:solidFill>
              <a:srgbClr val="D6DE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464040" y="142646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F5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464040" y="1810512"/>
            <a:ext cx="205740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การเปลี่ยน stock ต้องผ่าน StockEngine เพื่อ sync cache และสร้าง StockLog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473184" y="52303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A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Mermaid source: scratch/mermaid/inventory_flow.mmd</a:t>
            </a:r>
            <a:endParaRPr lang="en-US" sz="680" dirty="0"/>
          </a:p>
        </p:txBody>
      </p:sp>
      <p:sp>
        <p:nvSpPr>
          <p:cNvPr id="11" name="Text 8"/>
          <p:cNvSpPr/>
          <p:nvPr/>
        </p:nvSpPr>
        <p:spPr>
          <a:xfrm>
            <a:off x="411480" y="653796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Shop Inventory ERP • System Flow Training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152144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A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 w="12700">
            <a:solidFill>
              <a:srgbClr val="F8FA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Sales Flow แบบ End-to-End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2F3C4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หนึ่งบิลขายแตะหลาย subsystem: stock, tax, payment, delivery, accounting และ audit</a:t>
            </a:r>
            <a:endParaRPr lang="en-US" sz="1180" dirty="0"/>
          </a:p>
        </p:txBody>
      </p:sp>
      <p:sp>
        <p:nvSpPr>
          <p:cNvPr id="5" name="Shape 3"/>
          <p:cNvSpPr/>
          <p:nvPr/>
        </p:nvSpPr>
        <p:spPr>
          <a:xfrm>
            <a:off x="512064" y="1143000"/>
            <a:ext cx="1051560" cy="0"/>
          </a:xfrm>
          <a:prstGeom prst="line">
            <a:avLst/>
          </a:prstGeom>
          <a:noFill/>
          <a:ln w="30480">
            <a:solidFill>
              <a:srgbClr val="256F5B"/>
            </a:solidFill>
            <a:prstDash val="solid"/>
          </a:ln>
        </p:spPr>
      </p:sp>
      <p:pic>
        <p:nvPicPr>
          <p:cNvPr id="6" name="Image 0" descr="/Users/napat.a/Desktop/Live Coding/Shop-inventory/tmp/presentations/system-flow-training/scratch/assets/sales_fl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" y="1325880"/>
            <a:ext cx="8275320" cy="45354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89720" y="1426464"/>
            <a:ext cx="0" cy="4343400"/>
          </a:xfrm>
          <a:prstGeom prst="line">
            <a:avLst/>
          </a:prstGeom>
          <a:noFill/>
          <a:ln w="17780">
            <a:solidFill>
              <a:srgbClr val="D6DE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464040" y="142646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F5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464040" y="1810512"/>
            <a:ext cx="205740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SaleService ทำ orchestration แต่เรียก core services เป็นเจ้าของกฎเฉพาะทาง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473184" y="52303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A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Mermaid source: scratch/mermaid/sales_flow.mmd</a:t>
            </a:r>
            <a:endParaRPr lang="en-US" sz="680" dirty="0"/>
          </a:p>
        </p:txBody>
      </p:sp>
      <p:sp>
        <p:nvSpPr>
          <p:cNvPr id="11" name="Text 8"/>
          <p:cNvSpPr/>
          <p:nvPr/>
        </p:nvSpPr>
        <p:spPr>
          <a:xfrm>
            <a:off x="411480" y="653796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Shop Inventory ERP • System Flow Training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152144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A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 w="12700">
            <a:solidFill>
              <a:srgbClr val="F8FA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Sale DB Normalization และ Mapper Shield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2F3C4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Sale ยังมี legacy fields ขณะเดียวกันก็แยก child tables สำหรับ status, tax และ payment</a:t>
            </a:r>
            <a:endParaRPr lang="en-US" sz="1180" dirty="0"/>
          </a:p>
        </p:txBody>
      </p:sp>
      <p:sp>
        <p:nvSpPr>
          <p:cNvPr id="5" name="Shape 3"/>
          <p:cNvSpPr/>
          <p:nvPr/>
        </p:nvSpPr>
        <p:spPr>
          <a:xfrm>
            <a:off x="512064" y="1143000"/>
            <a:ext cx="1051560" cy="0"/>
          </a:xfrm>
          <a:prstGeom prst="line">
            <a:avLst/>
          </a:prstGeom>
          <a:noFill/>
          <a:ln w="30480">
            <a:solidFill>
              <a:srgbClr val="256F5B"/>
            </a:solidFill>
            <a:prstDash val="solid"/>
          </a:ln>
        </p:spPr>
      </p:sp>
      <p:pic>
        <p:nvPicPr>
          <p:cNvPr id="6" name="Image 0" descr="/Users/napat.a/Desktop/Live Coding/Shop-inventory/tmp/presentations/system-flow-training/scratch/assets/sale_mapp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" y="1325880"/>
            <a:ext cx="8275320" cy="45354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89720" y="1426464"/>
            <a:ext cx="0" cy="4343400"/>
          </a:xfrm>
          <a:prstGeom prst="line">
            <a:avLst/>
          </a:prstGeom>
          <a:noFill/>
          <a:ln w="17780">
            <a:solidFill>
              <a:srgbClr val="D6DE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464040" y="142646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F5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464040" y="1810512"/>
            <a:ext cx="205740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UI ควรอ่านผ่าน SaleMapper เพื่อได้ DTO flat ที่เสถียร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473184" y="52303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A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Mermaid source: scratch/mermaid/sale_mapper.mmd</a:t>
            </a:r>
            <a:endParaRPr lang="en-US" sz="680" dirty="0"/>
          </a:p>
        </p:txBody>
      </p:sp>
      <p:sp>
        <p:nvSpPr>
          <p:cNvPr id="11" name="Text 8"/>
          <p:cNvSpPr/>
          <p:nvPr/>
        </p:nvSpPr>
        <p:spPr>
          <a:xfrm>
            <a:off x="411480" y="653796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Shop Inventory ERP • System Flow Training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152144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A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 w="12700">
            <a:solidFill>
              <a:srgbClr val="F8FA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Procurement Flow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2F3C4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จาก PR/PO ไปจนถึง receiving, purchase tax, stock-in และ accounting posting</a:t>
            </a:r>
            <a:endParaRPr lang="en-US" sz="1180" dirty="0"/>
          </a:p>
        </p:txBody>
      </p:sp>
      <p:sp>
        <p:nvSpPr>
          <p:cNvPr id="5" name="Shape 3"/>
          <p:cNvSpPr/>
          <p:nvPr/>
        </p:nvSpPr>
        <p:spPr>
          <a:xfrm>
            <a:off x="512064" y="1143000"/>
            <a:ext cx="1051560" cy="0"/>
          </a:xfrm>
          <a:prstGeom prst="line">
            <a:avLst/>
          </a:prstGeom>
          <a:noFill/>
          <a:ln w="30480">
            <a:solidFill>
              <a:srgbClr val="256F5B"/>
            </a:solidFill>
            <a:prstDash val="solid"/>
          </a:ln>
        </p:spPr>
      </p:sp>
      <p:pic>
        <p:nvPicPr>
          <p:cNvPr id="6" name="Image 0" descr="/Users/napat.a/Desktop/Live Coding/Shop-inventory/tmp/presentations/system-flow-training/scratch/assets/procurement_fl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" y="1325880"/>
            <a:ext cx="8275320" cy="45354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89720" y="1426464"/>
            <a:ext cx="0" cy="4343400"/>
          </a:xfrm>
          <a:prstGeom prst="line">
            <a:avLst/>
          </a:prstGeom>
          <a:noFill/>
          <a:ln w="17780">
            <a:solidFill>
              <a:srgbClr val="D6DE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464040" y="142646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F5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464040" y="1810512"/>
            <a:ext cx="205740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รับสินค้าเข้าคลังเป็นจุดเชื่อมสำคัญระหว่าง PurchaseReceipt, StockLog และ Journal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473184" y="52303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A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Mermaid source: scratch/mermaid/procurement_flow.mmd</a:t>
            </a:r>
            <a:endParaRPr lang="en-US" sz="680" dirty="0"/>
          </a:p>
        </p:txBody>
      </p:sp>
      <p:sp>
        <p:nvSpPr>
          <p:cNvPr id="11" name="Text 8"/>
          <p:cNvSpPr/>
          <p:nvPr/>
        </p:nvSpPr>
        <p:spPr>
          <a:xfrm>
            <a:off x="411480" y="653796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Shop Inventory ERP • System Flow Training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152144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A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 w="12700">
            <a:solidFill>
              <a:srgbClr val="F8FA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Tax + Accounting Flow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2F3C4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เอกสารธุรกิจถูก resolve ภาษี คำนวณยอด และ post เป็น journal entry</a:t>
            </a:r>
            <a:endParaRPr lang="en-US" sz="1180" dirty="0"/>
          </a:p>
        </p:txBody>
      </p:sp>
      <p:sp>
        <p:nvSpPr>
          <p:cNvPr id="5" name="Shape 3"/>
          <p:cNvSpPr/>
          <p:nvPr/>
        </p:nvSpPr>
        <p:spPr>
          <a:xfrm>
            <a:off x="512064" y="1143000"/>
            <a:ext cx="1051560" cy="0"/>
          </a:xfrm>
          <a:prstGeom prst="line">
            <a:avLst/>
          </a:prstGeom>
          <a:noFill/>
          <a:ln w="30480">
            <a:solidFill>
              <a:srgbClr val="256F5B"/>
            </a:solidFill>
            <a:prstDash val="solid"/>
          </a:ln>
        </p:spPr>
      </p:sp>
      <p:pic>
        <p:nvPicPr>
          <p:cNvPr id="6" name="Image 0" descr="/Users/napat.a/Desktop/Live Coding/Shop-inventory/tmp/presentations/system-flow-training/scratch/assets/tax_account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" y="1325880"/>
            <a:ext cx="8275320" cy="45354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89720" y="1426464"/>
            <a:ext cx="0" cy="4343400"/>
          </a:xfrm>
          <a:prstGeom prst="line">
            <a:avLst/>
          </a:prstGeom>
          <a:noFill/>
          <a:ln w="17780">
            <a:solidFill>
              <a:srgbClr val="D6DE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464040" y="142646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F5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464040" y="1810512"/>
            <a:ext cx="205740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ComputationEngine คุมเลขเงิน ส่วน PostingService คุม debit/credit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473184" y="52303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A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Mermaid source: scratch/mermaid/tax_accounting.mmd</a:t>
            </a:r>
            <a:endParaRPr lang="en-US" sz="680" dirty="0"/>
          </a:p>
        </p:txBody>
      </p:sp>
      <p:sp>
        <p:nvSpPr>
          <p:cNvPr id="11" name="Text 8"/>
          <p:cNvSpPr/>
          <p:nvPr/>
        </p:nvSpPr>
        <p:spPr>
          <a:xfrm>
            <a:off x="411480" y="653796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Shop Inventory ERP • System Flow Training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152144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A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 w="12700">
            <a:solidFill>
              <a:srgbClr val="F8FA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AI และ OCR Flow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2F3C4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API route ใช้ withAuth + rate limit ก่อนเรียก Groq, OCR extraction และ ERP tools</a:t>
            </a:r>
            <a:endParaRPr lang="en-US" sz="1180" dirty="0"/>
          </a:p>
        </p:txBody>
      </p:sp>
      <p:sp>
        <p:nvSpPr>
          <p:cNvPr id="5" name="Shape 3"/>
          <p:cNvSpPr/>
          <p:nvPr/>
        </p:nvSpPr>
        <p:spPr>
          <a:xfrm>
            <a:off x="512064" y="1143000"/>
            <a:ext cx="1051560" cy="0"/>
          </a:xfrm>
          <a:prstGeom prst="line">
            <a:avLst/>
          </a:prstGeom>
          <a:noFill/>
          <a:ln w="30480">
            <a:solidFill>
              <a:srgbClr val="256F5B"/>
            </a:solidFill>
            <a:prstDash val="solid"/>
          </a:ln>
        </p:spPr>
      </p:sp>
      <p:pic>
        <p:nvPicPr>
          <p:cNvPr id="6" name="Image 0" descr="/Users/napat.a/Desktop/Live Coding/Shop-inventory/tmp/presentations/system-flow-training/scratch/assets/ai_oc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" y="1325880"/>
            <a:ext cx="8275320" cy="45354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89720" y="1426464"/>
            <a:ext cx="0" cy="4343400"/>
          </a:xfrm>
          <a:prstGeom prst="line">
            <a:avLst/>
          </a:prstGeom>
          <a:noFill/>
          <a:ln w="17780">
            <a:solidFill>
              <a:srgbClr val="D6DE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464040" y="142646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F5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464040" y="1810512"/>
            <a:ext cx="205740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AI ไม่ควรข้าม service layer เพราะ tool execution ยังต้องเคารพ shopId และ permission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473184" y="52303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A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Mermaid source: scratch/mermaid/ai_ocr.mmd</a:t>
            </a:r>
            <a:endParaRPr lang="en-US" sz="680" dirty="0"/>
          </a:p>
        </p:txBody>
      </p:sp>
      <p:sp>
        <p:nvSpPr>
          <p:cNvPr id="11" name="Text 8"/>
          <p:cNvSpPr/>
          <p:nvPr/>
        </p:nvSpPr>
        <p:spPr>
          <a:xfrm>
            <a:off x="411480" y="653796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Shop Inventory ERP • System Flow Training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152144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A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 w="12700">
            <a:solidFill>
              <a:srgbClr val="F8FA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Usage Flow สำหรับการใช้งานจริง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2F3C4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มุมมองผู้ใช้: ตั้งค่าร้าน -&gt; master data -&gt; ซื้อเข้า -&gt; ขายออก -&gt; ปิดบัญชี/รายงาน</a:t>
            </a:r>
            <a:endParaRPr lang="en-US" sz="1180" dirty="0"/>
          </a:p>
        </p:txBody>
      </p:sp>
      <p:sp>
        <p:nvSpPr>
          <p:cNvPr id="5" name="Shape 3"/>
          <p:cNvSpPr/>
          <p:nvPr/>
        </p:nvSpPr>
        <p:spPr>
          <a:xfrm>
            <a:off x="512064" y="1143000"/>
            <a:ext cx="1051560" cy="0"/>
          </a:xfrm>
          <a:prstGeom prst="line">
            <a:avLst/>
          </a:prstGeom>
          <a:noFill/>
          <a:ln w="30480">
            <a:solidFill>
              <a:srgbClr val="256F5B"/>
            </a:solidFill>
            <a:prstDash val="solid"/>
          </a:ln>
        </p:spPr>
      </p:sp>
      <p:pic>
        <p:nvPicPr>
          <p:cNvPr id="6" name="Image 0" descr="/Users/napat.a/Desktop/Live Coding/Shop-inventory/tmp/presentations/system-flow-training/scratch/assets/usage_fl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" y="1325880"/>
            <a:ext cx="8275320" cy="45354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89720" y="1426464"/>
            <a:ext cx="0" cy="4343400"/>
          </a:xfrm>
          <a:prstGeom prst="line">
            <a:avLst/>
          </a:prstGeom>
          <a:noFill/>
          <a:ln w="17780">
            <a:solidFill>
              <a:srgbClr val="D6DE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464040" y="142646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F5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464040" y="1810512"/>
            <a:ext cx="205740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flow ธุรกิจหมุนเป็นวงจร ไม่ใช่ feature แยกขาดจากกัน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473184" y="52303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A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Mermaid source: scratch/mermaid/usage_flow.mmd</a:t>
            </a:r>
            <a:endParaRPr lang="en-US" sz="680" dirty="0"/>
          </a:p>
        </p:txBody>
      </p:sp>
      <p:sp>
        <p:nvSpPr>
          <p:cNvPr id="11" name="Text 8"/>
          <p:cNvSpPr/>
          <p:nvPr/>
        </p:nvSpPr>
        <p:spPr>
          <a:xfrm>
            <a:off x="411480" y="653796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Shop Inventory ERP • System Flow Training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152144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A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 w="12700">
            <a:solidFill>
              <a:srgbClr val="F8FA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อ่านโค้ดหรือ Debug Feature อย่างไร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2F3C4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เส้นทางที่เร็วที่สุดเมื่ออยากเข้าใจหรือแก้บั๊กใน feature ใด feature หนึ่ง</a:t>
            </a:r>
            <a:endParaRPr lang="en-US" sz="1180" dirty="0"/>
          </a:p>
        </p:txBody>
      </p:sp>
      <p:sp>
        <p:nvSpPr>
          <p:cNvPr id="5" name="Shape 3"/>
          <p:cNvSpPr/>
          <p:nvPr/>
        </p:nvSpPr>
        <p:spPr>
          <a:xfrm>
            <a:off x="512064" y="1143000"/>
            <a:ext cx="1051560" cy="0"/>
          </a:xfrm>
          <a:prstGeom prst="line">
            <a:avLst/>
          </a:prstGeom>
          <a:noFill/>
          <a:ln w="30480">
            <a:solidFill>
              <a:srgbClr val="256F5B"/>
            </a:solidFill>
            <a:prstDash val="solid"/>
          </a:ln>
        </p:spPr>
      </p:sp>
      <p:pic>
        <p:nvPicPr>
          <p:cNvPr id="6" name="Image 0" descr="/Users/napat.a/Desktop/Live Coding/Shop-inventory/tmp/presentations/system-flow-training/scratch/assets/debug_pat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" y="1325880"/>
            <a:ext cx="8275320" cy="45354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89720" y="1426464"/>
            <a:ext cx="0" cy="4343400"/>
          </a:xfrm>
          <a:prstGeom prst="line">
            <a:avLst/>
          </a:prstGeom>
          <a:noFill/>
          <a:ln w="17780">
            <a:solidFill>
              <a:srgbClr val="D6DE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464040" y="142646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F5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464040" y="1810512"/>
            <a:ext cx="205740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เริ่มจาก route/page แล้วตาม action ไป service และ Prisma model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473184" y="52303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A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Mermaid source: scratch/mermaid/debug_path.mmd</a:t>
            </a:r>
            <a:endParaRPr lang="en-US" sz="680" dirty="0"/>
          </a:p>
        </p:txBody>
      </p:sp>
      <p:sp>
        <p:nvSpPr>
          <p:cNvPr id="11" name="Text 8"/>
          <p:cNvSpPr/>
          <p:nvPr/>
        </p:nvSpPr>
        <p:spPr>
          <a:xfrm>
            <a:off x="411480" y="653796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Shop Inventory ERP • System Flow Training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152144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A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 w="12700">
            <a:solidFill>
              <a:srgbClr val="F8FA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จุดที่ควรระวังในโปรเจกต์ปัจจุบัน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2F3C4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ระบบออกแบบดี แต่มีร่องรอย migration/hardening หลายช่วงที่ควรจำไว้</a:t>
            </a:r>
            <a:endParaRPr lang="en-US" sz="1180" dirty="0"/>
          </a:p>
        </p:txBody>
      </p:sp>
      <p:sp>
        <p:nvSpPr>
          <p:cNvPr id="5" name="Shape 3"/>
          <p:cNvSpPr/>
          <p:nvPr/>
        </p:nvSpPr>
        <p:spPr>
          <a:xfrm>
            <a:off x="512064" y="1143000"/>
            <a:ext cx="1051560" cy="0"/>
          </a:xfrm>
          <a:prstGeom prst="line">
            <a:avLst/>
          </a:prstGeom>
          <a:noFill/>
          <a:ln w="30480">
            <a:solidFill>
              <a:srgbClr val="256F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44168"/>
            <a:ext cx="10698480" cy="0"/>
          </a:xfrm>
          <a:prstGeom prst="line">
            <a:avLst/>
          </a:prstGeom>
          <a:noFill/>
          <a:ln w="27940">
            <a:solidFill>
              <a:srgbClr val="256F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620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Docs บางส่วนเก่า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4206240" y="14173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2F3C4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เอกสารเดิมพูดถึง 20 models แต่ schema จริงมีมากกว่า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685800" y="2020824"/>
            <a:ext cx="10698480" cy="0"/>
          </a:xfrm>
          <a:prstGeom prst="line">
            <a:avLst/>
          </a:prstGeom>
          <a:noFill/>
          <a:ln w="10160">
            <a:solidFill>
              <a:srgbClr val="D6DE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93976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620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Sale มี legacy + child tables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4206240" y="2093976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2F3C4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อ่านผ่าน SaleMapper เพื่อเลี่ยง field ไม่ครบ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685800" y="2697480"/>
            <a:ext cx="10698480" cy="0"/>
          </a:xfrm>
          <a:prstGeom prst="line">
            <a:avLst/>
          </a:prstGeom>
          <a:noFill/>
          <a:ln w="10160">
            <a:solidFill>
              <a:srgbClr val="D6DE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77063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620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Product.stock เป็น cache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4206240" y="277063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2F3C4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stock จริงดู WarehouseStock หรือ StockService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85800" y="3374136"/>
            <a:ext cx="10698480" cy="0"/>
          </a:xfrm>
          <a:prstGeom prst="line">
            <a:avLst/>
          </a:prstGeom>
          <a:noFill/>
          <a:ln w="10160">
            <a:solidFill>
              <a:srgbClr val="D6DE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4472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620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Phase/backfill comments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4206240" y="344728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2F3C4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บางโมดูลอยู่ระหว่าง migration และ cleanup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685800" y="4050792"/>
            <a:ext cx="10698480" cy="0"/>
          </a:xfrm>
          <a:prstGeom prst="line">
            <a:avLst/>
          </a:prstGeom>
          <a:noFill/>
          <a:ln w="10160">
            <a:solidFill>
              <a:srgbClr val="D6DE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123944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620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Seed script อาจไม่ตรง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4206240" y="4123944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2F3C4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package.json ชี้ prisma/seed.ts แต่ไฟล์นี้ไม่อยู่ในรายการปัจจุบัน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685800" y="4727448"/>
            <a:ext cx="10698480" cy="0"/>
          </a:xfrm>
          <a:prstGeom prst="line">
            <a:avLst/>
          </a:prstGeom>
          <a:noFill/>
          <a:ln w="10160">
            <a:solidFill>
              <a:srgbClr val="D6DED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8006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620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Test coverage ยังบาง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4206240" y="480060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2F3C4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ควรเพิ่ม service tests สำหรับ sales, stock, accounting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411480" y="653796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Shop Inventory ERP • System Flow Training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52144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A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 w="12700">
            <a:solidFill>
              <a:srgbClr val="F8FA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Mental Model จำง่าย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2F3C4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ถ้าจำภาพนี้ได้ จะอ่านระบบต่อเองง่ายขึ้นมาก</a:t>
            </a:r>
            <a:endParaRPr lang="en-US" sz="1180" dirty="0"/>
          </a:p>
        </p:txBody>
      </p:sp>
      <p:sp>
        <p:nvSpPr>
          <p:cNvPr id="5" name="Shape 3"/>
          <p:cNvSpPr/>
          <p:nvPr/>
        </p:nvSpPr>
        <p:spPr>
          <a:xfrm>
            <a:off x="512064" y="1143000"/>
            <a:ext cx="1051560" cy="0"/>
          </a:xfrm>
          <a:prstGeom prst="line">
            <a:avLst/>
          </a:prstGeom>
          <a:noFill/>
          <a:ln w="30480">
            <a:solidFill>
              <a:srgbClr val="256F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417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F5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ภาพจำสุดท้าย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F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91840" y="184708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4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กรอบข้อมูลของแต่ละร้าน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212848"/>
            <a:ext cx="5166360" cy="0"/>
          </a:xfrm>
          <a:prstGeom prst="line">
            <a:avLst/>
          </a:prstGeom>
          <a:noFill/>
          <a:ln w="10160">
            <a:solidFill>
              <a:srgbClr val="D6DE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57860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/ Permission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91840" y="259689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4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ประตูสิทธิ์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2962656"/>
            <a:ext cx="5166360" cy="0"/>
          </a:xfrm>
          <a:prstGeom prst="line">
            <a:avLst/>
          </a:prstGeom>
          <a:noFill/>
          <a:ln w="10160">
            <a:solidFill>
              <a:srgbClr val="D6DE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32841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F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 Action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91840" y="334670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4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ทางเข้าจาก UI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3712464"/>
            <a:ext cx="5166360" cy="0"/>
          </a:xfrm>
          <a:prstGeom prst="line">
            <a:avLst/>
          </a:prstGeom>
          <a:noFill/>
          <a:ln w="10160">
            <a:solidFill>
              <a:srgbClr val="D6DE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0782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91840" y="409651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4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สมองของ business logic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4462272"/>
            <a:ext cx="5166360" cy="0"/>
          </a:xfrm>
          <a:prstGeom prst="line">
            <a:avLst/>
          </a:prstGeom>
          <a:noFill/>
          <a:ln w="10160">
            <a:solidFill>
              <a:srgbClr val="D6DE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8288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9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WarehouseStock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869680" y="184708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4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ความจริงของสต็อก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2212848"/>
            <a:ext cx="5166360" cy="0"/>
          </a:xfrm>
          <a:prstGeom prst="line">
            <a:avLst/>
          </a:prstGeom>
          <a:noFill/>
          <a:ln w="10160">
            <a:solidFill>
              <a:srgbClr val="D6DED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257860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45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JournalEntry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869680" y="259689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4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ความจริงทางบัญชี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2962656"/>
            <a:ext cx="5166360" cy="0"/>
          </a:xfrm>
          <a:prstGeom prst="line">
            <a:avLst/>
          </a:prstGeom>
          <a:noFill/>
          <a:ln w="10160">
            <a:solidFill>
              <a:srgbClr val="D6DED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332841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9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AuditLog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869680" y="334670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4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ประวัติว่าใครทำอะไร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0" y="3712464"/>
            <a:ext cx="5166360" cy="0"/>
          </a:xfrm>
          <a:prstGeom prst="line">
            <a:avLst/>
          </a:prstGeom>
          <a:noFill/>
          <a:ln w="10160">
            <a:solidFill>
              <a:srgbClr val="D6DED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5486400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ถ้า feature ใดดูซับซ้อน ให้ถามก่อนว่า “ใครเป็นเจ้าของความจริงของข้อมูลนี้?” แล้วตามไปที่ service/model นั้น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11480" y="653796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Shop Inventory ERP • System Flow Training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52144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A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arabu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arabu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Shop Inventory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Shop Inventory ERP System Flow Training</dc:title>
  <dc:subject>Shop Inventory ERP System Flow Training</dc:subject>
  <dc:creator>OpenAI Codex</dc:creator>
  <cp:lastModifiedBy>OpenAI Codex</cp:lastModifiedBy>
  <cp:revision>1</cp:revision>
  <dcterms:created xsi:type="dcterms:W3CDTF">2026-04-29T10:55:22Z</dcterms:created>
  <dcterms:modified xsi:type="dcterms:W3CDTF">2026-04-29T10:55:22Z</dcterms:modified>
</cp:coreProperties>
</file>